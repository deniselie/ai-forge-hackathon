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8A317"/>
                </a:solidFill>
                <a:latin typeface="Consolas"/>
              </a:rPr>
              <a:t>AGENT FORGE AI HACKATHON   ·   SMU   ·   13 JUN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F3EFE3"/>
                </a:solidFill>
                <a:latin typeface="Georgia"/>
              </a:rPr>
              <a:t>60's Pulse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 i="1">
                <a:solidFill>
                  <a:srgbClr val="9A978C"/>
                </a:solidFill>
                <a:latin typeface="Georgia"/>
              </a:rPr>
              <a:t>Ad-Campaign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1480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F3EFE3"/>
                </a:solidFill>
                <a:latin typeface="Georgia"/>
              </a:rPr>
              <a:t>Find out how Singapore will react to your ad — </a:t>
            </a:r>
            <a:r>
              <a:rPr sz="2600" b="1" i="1">
                <a:solidFill>
                  <a:srgbClr val="FF2D55"/>
                </a:solidFill>
                <a:latin typeface="Georgia"/>
              </a:rPr>
              <a:t>before it airs.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989320"/>
            <a:ext cx="10515600" cy="18288"/>
          </a:xfrm>
          <a:prstGeom prst="rect">
            <a:avLst/>
          </a:prstGeom>
          <a:solidFill>
            <a:srgbClr val="2E4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0807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978C"/>
                </a:solidFill>
                <a:latin typeface="Consolas"/>
              </a:rPr>
              <a:t>KIMI AI  ·  BRIGHT DATA  ·  DAYTONA  ·  VIDEODB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2D55"/>
                </a:solidFill>
                <a:latin typeface="Consolas"/>
              </a:rP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3EFE3"/>
                </a:solidFill>
                <a:latin typeface="Georgia"/>
              </a:rPr>
              <a:t>How will the market react?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203704"/>
            <a:ext cx="109728" cy="109728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F3EFE3"/>
                </a:solidFill>
                <a:latin typeface="Georgia"/>
              </a:rPr>
              <a:t>Every launch is a bet.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A978C"/>
                </a:solidFill>
                <a:latin typeface="Consolas"/>
              </a:rPr>
              <a:t>When a company releases a product or campaign, it's guessing how the market will respond.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227832"/>
            <a:ext cx="109728" cy="109728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17296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F3EFE3"/>
                </a:solidFill>
                <a:latin typeface="Georgia"/>
              </a:rPr>
              <a:t>Feedback arrives too late.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A978C"/>
                </a:solidFill>
                <a:latin typeface="Consolas"/>
              </a:rPr>
              <a:t>Real reactions only show up after launch — when the budget is spent and the brand is exposed.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251959"/>
            <a:ext cx="109728" cy="109728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197096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F3EFE3"/>
                </a:solidFill>
                <a:latin typeface="Georgia"/>
              </a:rPr>
              <a:t>Today's research is slow and costly.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A978C"/>
                </a:solidFill>
                <a:latin typeface="Consolas"/>
              </a:rPr>
              <a:t>Focus groups and surveys run $5–15k, take weeks, and a small sample still misses the real public.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5276088"/>
            <a:ext cx="109728" cy="109728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221224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F3EFE3"/>
                </a:solidFill>
                <a:latin typeface="Georgia"/>
              </a:rPr>
              <a:t>The downside is brutal.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A978C"/>
                </a:solidFill>
                <a:latin typeface="Consolas"/>
              </a:rPr>
              <a:t>A misjudged launch becomes public backlash — E-Pay 2019 · Pepsi / Kendall Jenner · Bud Light.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8A317"/>
                </a:solidFill>
                <a:latin typeface="Consolas"/>
              </a:rPr>
              <a:t>02 / HOW IT WORKS  —  THE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3EFE3"/>
                </a:solidFill>
                <a:latin typeface="Georgia"/>
              </a:rPr>
              <a:t>Four tools, one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40280"/>
            <a:ext cx="2331720" cy="1691640"/>
          </a:xfrm>
          <a:prstGeom prst="rect">
            <a:avLst/>
          </a:prstGeom>
          <a:noFill/>
          <a:ln w="19050">
            <a:solidFill>
              <a:srgbClr val="F3E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04872"/>
            <a:ext cx="2148839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8A317"/>
                </a:solidFill>
                <a:latin typeface="Consolas"/>
              </a:rPr>
              <a:t>VIDEODB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F3EFE3"/>
                </a:solidFill>
                <a:latin typeface="Consolas"/>
              </a:rPr>
              <a:t>ingest the ad
→ scenes + 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79" y="2830068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2D55"/>
                </a:solidFill>
                <a:latin typeface="Consolas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599" y="2240280"/>
            <a:ext cx="2331720" cy="1691640"/>
          </a:xfrm>
          <a:prstGeom prst="rect">
            <a:avLst/>
          </a:prstGeom>
          <a:noFill/>
          <a:ln w="19050">
            <a:solidFill>
              <a:srgbClr val="F3E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404872"/>
            <a:ext cx="2148839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8A317"/>
                </a:solidFill>
                <a:latin typeface="Consolas"/>
              </a:rPr>
              <a:t>KIMI AI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F3EFE3"/>
                </a:solidFill>
                <a:latin typeface="Consolas"/>
              </a:rPr>
              <a:t>orchestrate +
fan out 60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19" y="2830068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2D55"/>
                </a:solidFill>
                <a:latin typeface="Consolas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240280"/>
            <a:ext cx="2331720" cy="1691640"/>
          </a:xfrm>
          <a:prstGeom prst="rect">
            <a:avLst/>
          </a:prstGeom>
          <a:noFill/>
          <a:ln w="19050">
            <a:solidFill>
              <a:srgbClr val="F3E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2404872"/>
            <a:ext cx="2148839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8A317"/>
                </a:solidFill>
                <a:latin typeface="Consolas"/>
              </a:rPr>
              <a:t>DAYTONA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F3EFE3"/>
                </a:solidFill>
                <a:latin typeface="Consolas"/>
              </a:rPr>
              <a:t>60 isolated
sandboxes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59" y="2830068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2D55"/>
                </a:solidFill>
                <a:latin typeface="Consola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2240280"/>
            <a:ext cx="2331720" cy="1691640"/>
          </a:xfrm>
          <a:prstGeom prst="rect">
            <a:avLst/>
          </a:prstGeom>
          <a:noFill/>
          <a:ln w="19050">
            <a:solidFill>
              <a:srgbClr val="F3E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19" y="2404872"/>
            <a:ext cx="2148839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8A317"/>
                </a:solidFill>
                <a:latin typeface="Consolas"/>
              </a:rPr>
              <a:t>BRIGHT DATA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F3EFE3"/>
                </a:solidFill>
                <a:latin typeface="Consolas"/>
              </a:rPr>
              <a:t>agents self-ground
in live discourse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480560"/>
            <a:ext cx="10451592" cy="1371600"/>
          </a:xfrm>
          <a:prstGeom prst="rect">
            <a:avLst/>
          </a:prstGeom>
          <a:solidFill>
            <a:srgbClr val="2E4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2743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3EFE3"/>
                </a:solidFill>
                <a:latin typeface="Consolas"/>
              </a:rPr>
              <a:t>BLAST SCORE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FF2D55"/>
                </a:solidFill>
                <a:latin typeface="Georgia"/>
              </a:rPr>
              <a:t>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48056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E8A317"/>
                </a:solidFill>
                <a:latin typeface="Consolas"/>
              </a:rPr>
              <a:t>DECISION: DELAY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3EFE3"/>
                </a:solidFill>
                <a:latin typeface="Consolas"/>
              </a:rPr>
              <a:t>60 grounded AI agents react to your campaign and tell you how the market will respond — before you launch.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